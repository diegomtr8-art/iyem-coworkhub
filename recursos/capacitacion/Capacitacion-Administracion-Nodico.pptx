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 jornada, después de la de recepción. Conviene que administración haya visto primero el material de mostrador: su trabajo arregla lo que allá se registra.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alguien pide «todos los permisos para ir más rápido», la respuesta es no: el costo se paga el día que haya que auditar un movimiento.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caso de soporte más común va a ser éste. Que lo tengan clarísimo.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limitación de facturar con tarjeta venía de la pasarela anterior. Está en revisión.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 de baja un espacio no borra las reservas que ya tiene. Revisarlas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módulo es nuevo. Es la respuesta a «para cambiar un teléfono hay que llamar al programador».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Reportes contesta «cómo vamos». Bitácora contesta «qué pasó aquí». No se confundan.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Hubo un historial de desconexiones por wifi inestable. La solución fue cable de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Repetir que la puerta no es simulación. Y que la limpieza de demo es un paso del procedimiento de lanzamiento.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cuatro cubren casi todo. El segundo es el que menos se adivina: la vigencia topa el calendario.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practicando: confirmar un pago, subir una factura y hacer un cambio en Página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9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754880" cy="4754880"/>
          </a:xfrm>
          <a:prstGeom prst="ellipse">
            <a:avLst/>
          </a:prstGeom>
          <a:solidFill>
            <a:srgbClr val="D6E265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2926080" cy="2926080"/>
          </a:xfrm>
          <a:prstGeom prst="ellipse">
            <a:avLst/>
          </a:prstGeom>
          <a:solidFill>
            <a:srgbClr val="D6E265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85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NÓDICO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1155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6E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· ADMINISTRACIÓN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Administrar Nódico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0624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Cobros, membresías, catálogos y el sitio público. Todo lo que recepción no ve, más la responsabilidad de que los números cuadren.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806440"/>
            <a:ext cx="1463040" cy="54864"/>
          </a:xfrm>
          <a:prstGeom prst="rect">
            <a:avLst/>
          </a:prstGeom>
          <a:solidFill>
            <a:srgbClr val="D6E26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6035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Yucateco de Emprendedores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9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6E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661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puede qué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6177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roles, y por qué el sistema está partido así.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ROLES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86384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hace qué en Nódico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2457450" cy="2377440"/>
          </a:xfrm>
          <a:prstGeom prst="roundRect">
            <a:avLst>
              <a:gd name="adj" fmla="val 3846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20002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383280"/>
            <a:ext cx="20002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Todo. Cobros, catálogos, reportes, bitácora y el sitio público.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63290" y="2011680"/>
            <a:ext cx="2457450" cy="2377440"/>
          </a:xfrm>
          <a:prstGeom prst="roundRect">
            <a:avLst>
              <a:gd name="adj" fmla="val 3846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91890" y="2286000"/>
            <a:ext cx="20002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Recepción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691890" y="3383280"/>
            <a:ext cx="20002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mostrador: accesos, agenda, miembros y asesorías. No ve dinero.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40780" y="2011680"/>
            <a:ext cx="2457450" cy="2377440"/>
          </a:xfrm>
          <a:prstGeom prst="roundRect">
            <a:avLst>
              <a:gd name="adj" fmla="val 3846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9380" y="2286000"/>
            <a:ext cx="20002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469380" y="3383280"/>
            <a:ext cx="20002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confirmar pagos. Nada más del panel.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18270" y="2011680"/>
            <a:ext cx="2457450" cy="2377440"/>
          </a:xfrm>
          <a:prstGeom prst="roundRect">
            <a:avLst>
              <a:gd name="adj" fmla="val 3846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46870" y="2286000"/>
            <a:ext cx="20002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Miembro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246870" y="3383280"/>
            <a:ext cx="20002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portal: sus horas, sus reservas, sus pagos.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84632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recepción no vea la caja y que caja no vea a los miembros no es desconfianza: es que cuando algo no cuadra, el rango de quién pudo tocarlo sea corto. Esa separación es lo que hace útil la bitácora.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9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6E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661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dinero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6177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único del sistema que activa o apaga una membresía.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86384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un pago y activar la membresía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1828800"/>
            <a:ext cx="512064" cy="512064"/>
          </a:xfrm>
          <a:prstGeom prst="ellipse">
            <a:avLst/>
          </a:prstGeom>
          <a:solidFill>
            <a:srgbClr val="D6E26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179222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Caja y busca la orden pendiente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157984"/>
            <a:ext cx="99669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miembro llegó con una referencia que generó desde su portal. Esa referencia es el vínculo entre su pago y su cuenta.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3232" y="2827782"/>
            <a:ext cx="512064" cy="512064"/>
          </a:xfrm>
          <a:prstGeom prst="ellipse">
            <a:avLst/>
          </a:prstGeom>
          <a:solidFill>
            <a:srgbClr val="D6E26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282778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279120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 con la evidencia en la mano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3156966"/>
            <a:ext cx="99669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Fecha, monto recibido y folio. No confirmes de memoria ni «porque ya me dijeron que pagó».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13232" y="3826764"/>
            <a:ext cx="512064" cy="512064"/>
          </a:xfrm>
          <a:prstGeom prst="ellipse">
            <a:avLst/>
          </a:prstGeom>
          <a:solidFill>
            <a:srgbClr val="D6E26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" y="38267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379018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monto no cuadra, el sistema te detiene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4155948"/>
            <a:ext cx="99669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muestra la diferencia y te obliga a decidir. No lo pases por alto: ese es el momento de preguntar.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13232" y="4825746"/>
            <a:ext cx="512064" cy="512064"/>
          </a:xfrm>
          <a:prstGeom prst="ellipse">
            <a:avLst/>
          </a:prstGeom>
          <a:solidFill>
            <a:srgbClr val="D6E26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" y="482574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478917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confirmar, la membresía se activa sola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5154930"/>
            <a:ext cx="99669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 abren sus horas y empieza su ciclo. No hay que hacer nada más.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5800" y="5897880"/>
            <a:ext cx="10789920" cy="621792"/>
          </a:xfrm>
          <a:prstGeom prst="roundRect">
            <a:avLst>
              <a:gd name="adj" fmla="val 11765"/>
            </a:avLst>
          </a:prstGeom>
          <a:solidFill>
            <a:srgbClr val="F4F1E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589788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que alguien confirma el pago, la membresía NO está activa. Si un miembro reclama que pagó y no puede reservar, esto es lo primero que hay que revisar.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86384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Emitir una factura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1828800"/>
            <a:ext cx="512064" cy="512064"/>
          </a:xfrm>
          <a:prstGeom prst="ellipse">
            <a:avLst/>
          </a:prstGeom>
          <a:solidFill>
            <a:srgbClr val="D6E26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179222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Facturación y revisa las pendientes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157984"/>
            <a:ext cx="99669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Aparecen las de quien pidió factura al pagar por transferencia o efectivo.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3232" y="2827782"/>
            <a:ext cx="512064" cy="512064"/>
          </a:xfrm>
          <a:prstGeom prst="ellipse">
            <a:avLst/>
          </a:prstGeom>
          <a:solidFill>
            <a:srgbClr val="D6E26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282778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279120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Comprueba los datos fiscales del miembro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3156966"/>
            <a:ext cx="99669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ya validó el formato del RFC, pero no que los datos sean los correctos.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13232" y="3826764"/>
            <a:ext cx="512064" cy="512064"/>
          </a:xfrm>
          <a:prstGeom prst="ellipse">
            <a:avLst/>
          </a:prstGeom>
          <a:solidFill>
            <a:srgbClr val="D6E26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" y="38267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379018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 el PDF y el XML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4155948"/>
            <a:ext cx="99669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Nódico no timbra: la factura la emite contabilidad del IYEM y aquí solo se guarda y se entrega.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13232" y="4825746"/>
            <a:ext cx="512064" cy="512064"/>
          </a:xfrm>
          <a:prstGeom prst="ellipse">
            <a:avLst/>
          </a:prstGeom>
          <a:solidFill>
            <a:srgbClr val="D6E26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" y="482574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478917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miembro la ve en su portal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5154930"/>
            <a:ext cx="99669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no hay que mandarla por correo ni buscarla cuando la pida de nuevo.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5800" y="5897880"/>
            <a:ext cx="10789920" cy="621792"/>
          </a:xfrm>
          <a:prstGeom prst="roundRect">
            <a:avLst>
              <a:gd name="adj" fmla="val 11765"/>
            </a:avLst>
          </a:prstGeom>
          <a:solidFill>
            <a:srgbClr val="F4F1E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589788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el sitio le dice al miembro que pagando con tarjeta no puede pedir factura. Si eso cambia con el banco, hay que avisar: el mensaje está en varias pantallas.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9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6E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661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catálogos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6177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configura pocas veces y define cómo funciona todo lo demás.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86384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defines tú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401568" cy="1956816"/>
          </a:xfrm>
          <a:prstGeom prst="roundRect">
            <a:avLst>
              <a:gd name="adj" fmla="val 4673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48840"/>
            <a:ext cx="384048" cy="384048"/>
          </a:xfrm>
          <a:prstGeom prst="ellipse">
            <a:avLst/>
          </a:prstGeom>
          <a:solidFill>
            <a:srgbClr val="D6E26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67919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63240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planes, sus precios y las horas que incluye cada uno. Cambiarlos afecta a quien contrate después, no a las membresías vigentes.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9976" y="1874520"/>
            <a:ext cx="3401568" cy="1956816"/>
          </a:xfrm>
          <a:prstGeom prst="roundRect">
            <a:avLst>
              <a:gd name="adj" fmla="val 4673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54296" y="2148840"/>
            <a:ext cx="384048" cy="384048"/>
          </a:xfrm>
          <a:prstGeom prst="ellipse">
            <a:avLst/>
          </a:prstGeom>
          <a:solidFill>
            <a:srgbClr val="D6E26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54296" y="267919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54296" y="3063240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cubículos, las salas de juntas, la cabina de contenido y el estudio de fotografía. Su capacidad y si están disponibles.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74152" y="1874520"/>
            <a:ext cx="3401568" cy="1956816"/>
          </a:xfrm>
          <a:prstGeom prst="roundRect">
            <a:avLst>
              <a:gd name="adj" fmla="val 4673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48472" y="2148840"/>
            <a:ext cx="384048" cy="384048"/>
          </a:xfrm>
          <a:prstGeom prst="ellipse">
            <a:avLst/>
          </a:prstGeom>
          <a:solidFill>
            <a:srgbClr val="D6E26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48472" y="267919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Tablero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48472" y="3063240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enlaces de la pantalla de ocupación que se proyecta en el espacio.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123944"/>
            <a:ext cx="3401568" cy="1956816"/>
          </a:xfrm>
          <a:prstGeom prst="roundRect">
            <a:avLst>
              <a:gd name="adj" fmla="val 4673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398264"/>
            <a:ext cx="384048" cy="384048"/>
          </a:xfrm>
          <a:prstGeom prst="ellipse">
            <a:avLst/>
          </a:prstGeom>
          <a:solidFill>
            <a:srgbClr val="D6E26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4928616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Asesores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5312664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catálogo de colaboradores del IYEM que dan asesoría.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79976" y="4123944"/>
            <a:ext cx="3401568" cy="1956816"/>
          </a:xfrm>
          <a:prstGeom prst="roundRect">
            <a:avLst>
              <a:gd name="adj" fmla="val 4673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54296" y="4398264"/>
            <a:ext cx="384048" cy="384048"/>
          </a:xfrm>
          <a:prstGeom prst="ellipse">
            <a:avLst/>
          </a:prstGeom>
          <a:solidFill>
            <a:srgbClr val="D6E26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54296" y="4928616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Temas de asesoría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654296" y="5312664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oferta que el miembro ve al solicitar una asesoría.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74152" y="4123944"/>
            <a:ext cx="3401568" cy="1956816"/>
          </a:xfrm>
          <a:prstGeom prst="roundRect">
            <a:avLst>
              <a:gd name="adj" fmla="val 4673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48472" y="4398264"/>
            <a:ext cx="384048" cy="384048"/>
          </a:xfrm>
          <a:prstGeom prst="ellipse">
            <a:avLst/>
          </a:prstGeom>
          <a:solidFill>
            <a:srgbClr val="D6E26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48472" y="4928616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Emprendedores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348472" y="5312664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directorio y quién sale como Emprendedor de la Semana en el sitio público.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WEB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86384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Cambiar el sitio público sin programador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1828800"/>
            <a:ext cx="512064" cy="512064"/>
          </a:xfrm>
          <a:prstGeom prst="ellipse">
            <a:avLst/>
          </a:prstGeom>
          <a:solidFill>
            <a:srgbClr val="D6E26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179222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a Página Web desde el menú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157984"/>
            <a:ext cx="99669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organizado como el sitio: una pantalla por página pública, y dentro, las secciones en el orden en que salen.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3232" y="2827782"/>
            <a:ext cx="512064" cy="512064"/>
          </a:xfrm>
          <a:prstGeom prst="ellipse">
            <a:avLst/>
          </a:prstGeom>
          <a:solidFill>
            <a:srgbClr val="D6E26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282778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279120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textos, imágenes, enlaces y datos de contacto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3156966"/>
            <a:ext cx="99669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subir una foto te enseña el recorte antes de guardar, para que no quede cortada.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13232" y="3826764"/>
            <a:ext cx="512064" cy="512064"/>
          </a:xfrm>
          <a:prstGeom prst="ellipse">
            <a:avLst/>
          </a:prstGeom>
          <a:solidFill>
            <a:srgbClr val="D6E26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" y="38267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379018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Enciende o apaga secciones enteras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4155948"/>
            <a:ext cx="99669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 ocultar algo que todavía no está listo sin tener que borrarlo.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13232" y="4825746"/>
            <a:ext cx="512064" cy="512064"/>
          </a:xfrm>
          <a:prstGeom prst="ellipse">
            <a:avLst/>
          </a:prstGeom>
          <a:solidFill>
            <a:srgbClr val="D6E26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" y="482574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478917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queda en la bitácora, y se puede deshacer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5154930"/>
            <a:ext cx="99669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se ve mal después de un cambio, se vuelve a la versión anterior.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5800" y="5897880"/>
            <a:ext cx="10789920" cy="621792"/>
          </a:xfrm>
          <a:prstGeom prst="roundRect">
            <a:avLst>
              <a:gd name="adj" fmla="val 11765"/>
            </a:avLst>
          </a:prstGeom>
          <a:solidFill>
            <a:srgbClr val="F4F1E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589788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se puede cambiar desde aquí: la maquetación, los colores y el orden de las secciones. Eso lo fija el diseño, a propósito.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9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6E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661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Vigilar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6177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saber qué está pasando y qué pasó.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Y BITÁCORA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86384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dos pantallas de control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21408"/>
            <a:ext cx="347472" cy="347472"/>
          </a:xfrm>
          <a:prstGeom prst="ellipse">
            <a:avLst/>
          </a:prstGeom>
          <a:solidFill>
            <a:srgbClr val="D6E26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27048" y="2103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69748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Ocupación del espacio por periodo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y su origen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Permanencia y uso de las bolsas de horas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de fechas configurable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decidir: precios, horarios, qué espacio sobra o falta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0" y="2121408"/>
            <a:ext cx="347472" cy="347472"/>
          </a:xfrm>
          <a:prstGeom prst="ellipse">
            <a:avLst/>
          </a:prstGeom>
          <a:solidFill>
            <a:srgbClr val="EF7E8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96328" y="2103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Bitácora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269748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ajustó horas y con qué motivo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confirmó cada pago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abrió la puerta y por qué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cambió el sitio público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reconstruir: qué pasó, cuándo y quién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86384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 de alta un rostro en la entrada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1828800"/>
            <a:ext cx="512064" cy="512064"/>
          </a:xfrm>
          <a:prstGeom prst="ellipse">
            <a:avLst/>
          </a:prstGeom>
          <a:solidFill>
            <a:srgbClr val="D6E26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179222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Accesos y elige vincular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157984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captura el rostro del miembro desde el panel; no hace falta entrar al sistema del torno.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3232" y="2990088"/>
            <a:ext cx="512064" cy="512064"/>
          </a:xfrm>
          <a:prstGeom prst="ellipse">
            <a:avLst/>
          </a:prstGeom>
          <a:solidFill>
            <a:srgbClr val="D6E26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295351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 la vista previa antes de confirmar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3319272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captura mala se traduce en que la puerta no lo reconozca y tenga que venir al mostrador cada vez.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13232" y="4151376"/>
            <a:ext cx="512064" cy="512064"/>
          </a:xfrm>
          <a:prstGeom prst="ellipse">
            <a:avLst/>
          </a:prstGeom>
          <a:solidFill>
            <a:srgbClr val="D6E26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" y="4151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1148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Comprueba el estado del torno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448056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dice si está en línea. Si se cayó, hay un botón para reconectarlo.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5897880"/>
            <a:ext cx="10789920" cy="621792"/>
          </a:xfrm>
          <a:prstGeom prst="roundRect">
            <a:avLst>
              <a:gd name="adj" fmla="val 11765"/>
            </a:avLst>
          </a:prstGeom>
          <a:solidFill>
            <a:srgbClr val="F4F1E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589788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lector depende de la red. Si se desconecta a cada rato, el problema es el cable o el wifi del torno, no el sistema.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9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10515600" cy="4114800"/>
          </a:xfrm>
          <a:prstGeom prst="roundRect">
            <a:avLst>
              <a:gd name="adj" fmla="val 2667"/>
            </a:avLst>
          </a:prstGeom>
          <a:solidFill>
            <a:srgbClr val="2E2D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280160" y="18288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COSAS QUE NO SE DESHACEN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22860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puerta se abre de verdad, y los datos de prueba se borran de verdad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474720"/>
            <a:ext cx="9418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9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botón de abrir la puerta está conectado al torno físico de la entrada. Funciona desde cualquier lugar y queda registrado quién lo pulsó.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9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día que Nódico salga a producción, los datos de demostración se borran: Ana Pro, Beto Match y las órdenes de prueba. Eso es un paso del lanzamiento, con fecha, no algo que se haga sobre la marcha.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86384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tres reclamos más probables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21408"/>
            <a:ext cx="347472" cy="347472"/>
          </a:xfrm>
          <a:prstGeom prst="ellipse">
            <a:avLst/>
          </a:prstGeom>
          <a:solidFill>
            <a:srgbClr val="D6E26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27048" y="2103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te van a decir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69748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«Pagué y no puedo reservar»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 me deja elegir el día»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 me llegó el correo»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«La puerta no me reconoce»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0" y="2121408"/>
            <a:ext cx="347472" cy="347472"/>
          </a:xfrm>
          <a:prstGeom prst="ellipse">
            <a:avLst/>
          </a:prstGeom>
          <a:solidFill>
            <a:srgbClr val="EF7E8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96328" y="2103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revisar primero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269748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pago está confirmado en Caja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su membresía sigue vigente: no se puede reservar más allá de su fecha de fin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carpeta de spam, y después a qué buzón se mandó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su rostro está vinculado y si el torno está en línea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9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572000" cy="4572000"/>
          </a:xfrm>
          <a:prstGeom prst="ellipse">
            <a:avLst/>
          </a:prstGeom>
          <a:solidFill>
            <a:srgbClr val="D6E265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 se registra, no existe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1188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C9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motivo de un ajuste, el folio de un pago, la razón de abrir la puerta. Son dos segundos al escribirlos y la única explicación que va a quedar dentro de tres meses.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2026-10-01T17:58:57Z</dcterms:created>
  <dcterms:modified xsi:type="dcterms:W3CDTF">2026-10-01T17:58:57Z</dcterms:modified>
</cp:coreProperties>
</file>